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07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938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001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27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148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553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66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47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24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76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35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5471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59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300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246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636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76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E784C-59C2-4B7B-AACC-8B7A56A115C1}" type="datetimeFigureOut">
              <a:rPr lang="en-IN" smtClean="0"/>
              <a:t>31-01-2025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C962C-2F2D-4B4D-93B8-A8282AA01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5602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1BF6-394A-E49C-F5CC-E39B214EA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1109560"/>
          </a:xfrm>
        </p:spPr>
        <p:txBody>
          <a:bodyPr>
            <a:noAutofit/>
          </a:bodyPr>
          <a:lstStyle/>
          <a:p>
            <a:r>
              <a:rPr lang="en-IN" sz="8000" dirty="0"/>
              <a:t>CRM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C66A07-9E7F-988F-EAEE-F9E5DCC9E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215149"/>
            <a:ext cx="8728602" cy="347078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Presented By Group 4</a:t>
            </a:r>
          </a:p>
          <a:p>
            <a:r>
              <a:rPr lang="en-IN" dirty="0"/>
              <a:t>Pratiksha Jadhav</a:t>
            </a:r>
          </a:p>
          <a:p>
            <a:r>
              <a:rPr lang="en-IN" dirty="0"/>
              <a:t>Atharv Yadav</a:t>
            </a:r>
          </a:p>
          <a:p>
            <a:r>
              <a:rPr lang="en-IN" dirty="0"/>
              <a:t>Mohsin Shaikh</a:t>
            </a:r>
          </a:p>
        </p:txBody>
      </p:sp>
    </p:spTree>
    <p:extLst>
      <p:ext uri="{BB962C8B-B14F-4D97-AF65-F5344CB8AC3E}">
        <p14:creationId xmlns:p14="http://schemas.microsoft.com/office/powerpoint/2010/main" val="343063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0004B-A389-A12E-DD83-7C6665CD7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6" y="2096063"/>
            <a:ext cx="10931891" cy="428158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Account table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User table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Lead  table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Opportunity table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Opportunity Product table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A5EE5-26CF-3EAA-303D-86DFA2AD8DF7}"/>
              </a:ext>
            </a:extLst>
          </p:cNvPr>
          <p:cNvSpPr txBox="1"/>
          <p:nvPr/>
        </p:nvSpPr>
        <p:spPr>
          <a:xfrm>
            <a:off x="335666" y="1275071"/>
            <a:ext cx="106255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are provided with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Dataset contains 5 CSV and 5 Excel Files.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2580" indent="-285750">
              <a:buFont typeface="Wingdings" panose="05000000000000000000" pitchFamily="2" charset="2"/>
              <a:buChar char="v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626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FC5B86-8425-7260-31CA-3524053EE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1" y="146255"/>
            <a:ext cx="12044515" cy="32827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D24CE5-56E0-7C40-59FD-63E45A6FC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3" y="3594500"/>
            <a:ext cx="11885632" cy="311724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989853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4C7A80-A7A8-C8D5-FB20-B8C26DD9E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25" y="137182"/>
            <a:ext cx="11713727" cy="31336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ADBF0C-23F7-9E1A-8503-8E16B86C8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25" y="3429000"/>
            <a:ext cx="11636043" cy="332131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613422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2043ED-B360-BBAD-1CBD-169E32F63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53" y="97903"/>
            <a:ext cx="11858016" cy="333109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808F41-772B-2E88-1296-F3BCD7241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52" y="3607328"/>
            <a:ext cx="11954295" cy="315276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634977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C242F0-DAD9-6441-A96C-BB37D7B730A6}"/>
              </a:ext>
            </a:extLst>
          </p:cNvPr>
          <p:cNvSpPr txBox="1"/>
          <p:nvPr/>
        </p:nvSpPr>
        <p:spPr>
          <a:xfrm>
            <a:off x="245805" y="90949"/>
            <a:ext cx="9114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Key Performance Matrix( Lead 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E607A3-534C-C8F9-DCA3-F04737F3D9B7}"/>
              </a:ext>
            </a:extLst>
          </p:cNvPr>
          <p:cNvSpPr/>
          <p:nvPr/>
        </p:nvSpPr>
        <p:spPr>
          <a:xfrm>
            <a:off x="245805" y="811670"/>
            <a:ext cx="1637074" cy="100901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1013 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3AAB9B-BD9B-4152-A42C-2309393DC868}"/>
              </a:ext>
            </a:extLst>
          </p:cNvPr>
          <p:cNvSpPr/>
          <p:nvPr/>
        </p:nvSpPr>
        <p:spPr>
          <a:xfrm>
            <a:off x="1022555" y="2074382"/>
            <a:ext cx="1720647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4BC455-2D13-07A5-9914-399D2FE56D05}"/>
              </a:ext>
            </a:extLst>
          </p:cNvPr>
          <p:cNvSpPr/>
          <p:nvPr/>
        </p:nvSpPr>
        <p:spPr>
          <a:xfrm>
            <a:off x="1882879" y="3222773"/>
            <a:ext cx="1858297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35.53%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FF394C-5CD4-4797-43CE-CE45BCD9B5F4}"/>
              </a:ext>
            </a:extLst>
          </p:cNvPr>
          <p:cNvSpPr/>
          <p:nvPr/>
        </p:nvSpPr>
        <p:spPr>
          <a:xfrm>
            <a:off x="3028471" y="4390871"/>
            <a:ext cx="1858297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38.96%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703586-6AFD-7A41-5C02-0BC3941300DE}"/>
              </a:ext>
            </a:extLst>
          </p:cNvPr>
          <p:cNvSpPr/>
          <p:nvPr/>
        </p:nvSpPr>
        <p:spPr>
          <a:xfrm>
            <a:off x="3957620" y="5578963"/>
            <a:ext cx="1858297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35.53%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939FF1D-EEEF-B5E7-7440-D921D2F0602E}"/>
              </a:ext>
            </a:extLst>
          </p:cNvPr>
          <p:cNvSpPr/>
          <p:nvPr/>
        </p:nvSpPr>
        <p:spPr>
          <a:xfrm>
            <a:off x="1882878" y="1041186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0F58BAC-470A-1E10-C525-E9B09C37A263}"/>
              </a:ext>
            </a:extLst>
          </p:cNvPr>
          <p:cNvSpPr/>
          <p:nvPr/>
        </p:nvSpPr>
        <p:spPr>
          <a:xfrm>
            <a:off x="2711778" y="2267727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AEFF176-FD5D-00E1-7F01-769AD065CFB7}"/>
              </a:ext>
            </a:extLst>
          </p:cNvPr>
          <p:cNvSpPr/>
          <p:nvPr/>
        </p:nvSpPr>
        <p:spPr>
          <a:xfrm>
            <a:off x="3741176" y="3374433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B91A14A-1E5C-6123-C978-05B49485012D}"/>
              </a:ext>
            </a:extLst>
          </p:cNvPr>
          <p:cNvSpPr/>
          <p:nvPr/>
        </p:nvSpPr>
        <p:spPr>
          <a:xfrm>
            <a:off x="4896324" y="4581866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D54B643-4349-E8EE-B655-6C0E5C53DF0F}"/>
              </a:ext>
            </a:extLst>
          </p:cNvPr>
          <p:cNvSpPr/>
          <p:nvPr/>
        </p:nvSpPr>
        <p:spPr>
          <a:xfrm>
            <a:off x="5768053" y="5793847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D4E9D6-8B2B-A3A4-6784-24FAE5A91632}"/>
              </a:ext>
            </a:extLst>
          </p:cNvPr>
          <p:cNvSpPr txBox="1"/>
          <p:nvPr/>
        </p:nvSpPr>
        <p:spPr>
          <a:xfrm>
            <a:off x="3200982" y="1170910"/>
            <a:ext cx="3913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Expected Amount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C3AA9-ABF9-3F15-F17E-07F6AF7B529B}"/>
              </a:ext>
            </a:extLst>
          </p:cNvPr>
          <p:cNvSpPr txBox="1"/>
          <p:nvPr/>
        </p:nvSpPr>
        <p:spPr>
          <a:xfrm>
            <a:off x="3805083" y="2265049"/>
            <a:ext cx="42856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Active opportunities</a:t>
            </a:r>
          </a:p>
          <a:p>
            <a:pPr marL="36830" indent="0">
              <a:buNone/>
            </a:pP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5D066B-9673-BB5B-2F9F-455F57EA25CC}"/>
              </a:ext>
            </a:extLst>
          </p:cNvPr>
          <p:cNvSpPr txBox="1"/>
          <p:nvPr/>
        </p:nvSpPr>
        <p:spPr>
          <a:xfrm>
            <a:off x="4803057" y="2789351"/>
            <a:ext cx="60940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30" indent="0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Conversion Rate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F6DB99-BC35-DAEF-97C5-D2070CC77684}"/>
              </a:ext>
            </a:extLst>
          </p:cNvPr>
          <p:cNvSpPr txBox="1"/>
          <p:nvPr/>
        </p:nvSpPr>
        <p:spPr>
          <a:xfrm>
            <a:off x="6053689" y="4512620"/>
            <a:ext cx="3378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Loss Rate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F981F5-14DA-D5D3-098D-3CE7B9CEE3AA}"/>
              </a:ext>
            </a:extLst>
          </p:cNvPr>
          <p:cNvSpPr txBox="1"/>
          <p:nvPr/>
        </p:nvSpPr>
        <p:spPr>
          <a:xfrm>
            <a:off x="6949611" y="5816814"/>
            <a:ext cx="2523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Win Rate</a:t>
            </a:r>
          </a:p>
        </p:txBody>
      </p:sp>
    </p:spTree>
    <p:extLst>
      <p:ext uri="{BB962C8B-B14F-4D97-AF65-F5344CB8AC3E}">
        <p14:creationId xmlns:p14="http://schemas.microsoft.com/office/powerpoint/2010/main" val="3697517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9E0C6E-1136-8CC2-C1D0-320277F74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51" y="752100"/>
            <a:ext cx="4485333" cy="2676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8E827B-3A8D-768D-7CAB-3D5E50F52149}"/>
              </a:ext>
            </a:extLst>
          </p:cNvPr>
          <p:cNvSpPr txBox="1"/>
          <p:nvPr/>
        </p:nvSpPr>
        <p:spPr>
          <a:xfrm>
            <a:off x="4817807" y="98323"/>
            <a:ext cx="5220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Lead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704B7C-114F-51DA-6FA8-045118EA6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43" y="3630676"/>
            <a:ext cx="4574741" cy="27626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35901328-71D4-3754-CE75-D788F7E56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438" y="583072"/>
            <a:ext cx="645979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 by Industry: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Distributor leads dominate with a count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a key focus area.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Biotechnology and Apparel follow, suggesting moderate engagement in those sectors.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Oil &amp; Gas has the lowest count, possibly an area for exploration 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deprioritization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 by Stage: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highest stage count is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(237)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Nurturing (212)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that leads are actively moving through the funnel.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MQL (176)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also significant, but there seems to be a bottleneck in the early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(12)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leads seem relatively low compared to total pipeline size, signaling an opportunity to optimize conversion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145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C0BDC6-0172-B0CC-FA69-133D4EC8E5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31" y="3785418"/>
            <a:ext cx="5068364" cy="2917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503EF3-A347-61C3-072C-C61EDA656507}"/>
              </a:ext>
            </a:extLst>
          </p:cNvPr>
          <p:cNvSpPr txBox="1"/>
          <p:nvPr/>
        </p:nvSpPr>
        <p:spPr>
          <a:xfrm>
            <a:off x="4380411" y="154706"/>
            <a:ext cx="5373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Opportunity Dashboard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616691-C07E-77C7-45C6-B7E0278F7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30" y="801037"/>
            <a:ext cx="4947597" cy="27784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397781-8019-AFA6-5FD4-E84E4F1ED1A9}"/>
              </a:ext>
            </a:extLst>
          </p:cNvPr>
          <p:cNvSpPr txBox="1"/>
          <p:nvPr/>
        </p:nvSpPr>
        <p:spPr>
          <a:xfrm>
            <a:off x="5397910" y="985114"/>
            <a:ext cx="6076335" cy="1734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Expected Vs Forecast (Pie Chart)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chart compares the expected vs. forecasted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1.02 billion (84.74%)</a:t>
            </a:r>
            <a:r>
              <a:rPr lang="en-US" dirty="0"/>
              <a:t> represents the forecasted amount.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0.18 billion (15.26%)</a:t>
            </a:r>
            <a:r>
              <a:rPr lang="en-US" dirty="0"/>
              <a:t> represents the expected amount.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forecast is significantly higher than the expected value, indicating a strong projection.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E3F92E-5B10-38B6-9EF1-9AD734E0858B}"/>
              </a:ext>
            </a:extLst>
          </p:cNvPr>
          <p:cNvSpPr txBox="1"/>
          <p:nvPr/>
        </p:nvSpPr>
        <p:spPr>
          <a:xfrm>
            <a:off x="5486401" y="3932904"/>
            <a:ext cx="65333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Opportunity by Industry (</a:t>
            </a:r>
            <a:r>
              <a:rPr lang="en-US" b="1" dirty="0" err="1"/>
              <a:t>Treemap</a:t>
            </a:r>
            <a:r>
              <a:rPr lang="en-US" b="1" dirty="0"/>
              <a:t> Chart)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chart breaks down opportunities by industry.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largest opportunities</a:t>
            </a:r>
            <a:r>
              <a:rPr lang="en-US" dirty="0"/>
              <a:t> are in </a:t>
            </a:r>
            <a:r>
              <a:rPr lang="en-US" b="1" dirty="0"/>
              <a:t>Communications (71.18M)</a:t>
            </a:r>
            <a:r>
              <a:rPr lang="en-US" dirty="0"/>
              <a:t> and </a:t>
            </a:r>
            <a:r>
              <a:rPr lang="en-US" b="1" dirty="0"/>
              <a:t>Biopharma/Pharmaceuticals (70.18M)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Other notable industries: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Agriculture</a:t>
            </a:r>
            <a:r>
              <a:rPr lang="en-US" dirty="0"/>
              <a:t> (24.72M)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Banking</a:t>
            </a:r>
            <a:r>
              <a:rPr lang="en-US" dirty="0"/>
              <a:t> (19.83M)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Biotechnology</a:t>
            </a:r>
            <a:r>
              <a:rPr lang="en-US" dirty="0"/>
              <a:t> (16.89M)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Apparel</a:t>
            </a:r>
            <a:r>
              <a:rPr lang="en-US" dirty="0"/>
              <a:t> (11.52M)</a:t>
            </a:r>
          </a:p>
        </p:txBody>
      </p:sp>
    </p:spTree>
    <p:extLst>
      <p:ext uri="{BB962C8B-B14F-4D97-AF65-F5344CB8AC3E}">
        <p14:creationId xmlns:p14="http://schemas.microsoft.com/office/powerpoint/2010/main" val="2760910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EB19CB9-6871-9F56-D0A7-82A57A0E57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163" y="144566"/>
            <a:ext cx="4048690" cy="23911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6260BD-DE99-54DA-0DD1-173036F8C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48" y="144566"/>
            <a:ext cx="3905795" cy="25435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0F687F-4317-70CC-E88A-6B9C10229F8E}"/>
              </a:ext>
            </a:extLst>
          </p:cNvPr>
          <p:cNvSpPr txBox="1"/>
          <p:nvPr/>
        </p:nvSpPr>
        <p:spPr>
          <a:xfrm>
            <a:off x="1293779" y="2831149"/>
            <a:ext cx="464126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Expected Amount by opportunity type (Donut Chart)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Website Leads Lead – Largest revenue source (37.03%, $68.16M).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Inside Sales &amp; Trade Shows – Key contributors (23.96% &amp; 21.87%).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Smaller Channels – Referrals (7.86%), webinars (1.81%), and sales seminars.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Strategic Focus – Strengthen top sources, improve weaker ones.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1BF93-3471-CB76-7C5A-B6876DB45F6F}"/>
              </a:ext>
            </a:extLst>
          </p:cNvPr>
          <p:cNvSpPr txBox="1"/>
          <p:nvPr/>
        </p:nvSpPr>
        <p:spPr>
          <a:xfrm>
            <a:off x="6605394" y="2908680"/>
            <a:ext cx="44679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Closed Won Vs Total Closed (Bar Chart)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Closed Deals – 2,996 deals were closed in total.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Closed Won – 1,429 deals were successfully won.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Win Rate – Approximately 48% of closed deals were won.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Improvement Needed – Focus on increasing the win rate for better conversions.</a:t>
            </a:r>
          </a:p>
        </p:txBody>
      </p:sp>
    </p:spTree>
    <p:extLst>
      <p:ext uri="{BB962C8B-B14F-4D97-AF65-F5344CB8AC3E}">
        <p14:creationId xmlns:p14="http://schemas.microsoft.com/office/powerpoint/2010/main" val="1579724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B02603-9039-4396-B429-09DAE81DA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681" y="159022"/>
            <a:ext cx="3541727" cy="30190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045959-D22D-1EA4-0585-165F28E70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681" y="3429000"/>
            <a:ext cx="3518632" cy="28448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467037-1B69-807D-E945-61FDFEB7493E}"/>
              </a:ext>
            </a:extLst>
          </p:cNvPr>
          <p:cNvSpPr txBox="1"/>
          <p:nvPr/>
        </p:nvSpPr>
        <p:spPr>
          <a:xfrm>
            <a:off x="334298" y="3985903"/>
            <a:ext cx="76298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bar chart represents the </a:t>
            </a:r>
            <a:r>
              <a:rPr lang="en-US" b="1" dirty="0"/>
              <a:t>Expected Amount from Converted Leads</a:t>
            </a:r>
            <a:r>
              <a:rPr lang="en-US" dirty="0"/>
              <a:t>, showing a total value of </a:t>
            </a:r>
            <a:r>
              <a:rPr lang="en-US" b="1" dirty="0"/>
              <a:t>₹37 million</a:t>
            </a:r>
            <a:r>
              <a:rPr lang="en-US" dirty="0"/>
              <a:t>. It highlights the revenue potential from leads that have successfully converted, providing insight into the effectiveness of lead conversion strategies. Would you like a deeper analysis or comparison with other metrics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B6C4B6-0011-2928-E852-1888B0D59C12}"/>
              </a:ext>
            </a:extLst>
          </p:cNvPr>
          <p:cNvSpPr txBox="1"/>
          <p:nvPr/>
        </p:nvSpPr>
        <p:spPr>
          <a:xfrm>
            <a:off x="334297" y="658761"/>
            <a:ext cx="79149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pie chart represents the </a:t>
            </a:r>
            <a:r>
              <a:rPr lang="en-US" b="1" dirty="0"/>
              <a:t>Top 10 Sources by Leads</a:t>
            </a:r>
            <a:r>
              <a:rPr lang="en-US" dirty="0"/>
              <a:t>, categorizing lead generation channels by their contribution. Key sources include </a:t>
            </a:r>
            <a:r>
              <a:rPr lang="en-US" b="1" dirty="0"/>
              <a:t>Inside Sales (2,786 leads)</a:t>
            </a:r>
            <a:r>
              <a:rPr lang="en-US" dirty="0"/>
              <a:t>, </a:t>
            </a:r>
            <a:r>
              <a:rPr lang="en-US" b="1" dirty="0"/>
              <a:t>Website (2,195 leads)</a:t>
            </a:r>
            <a:r>
              <a:rPr lang="en-US" dirty="0"/>
              <a:t>, and </a:t>
            </a:r>
            <a:r>
              <a:rPr lang="en-US" b="1" dirty="0"/>
              <a:t>Sales Seminar (1,610 leads)</a:t>
            </a:r>
            <a:r>
              <a:rPr lang="en-US" dirty="0"/>
              <a:t>. Other sources like </a:t>
            </a:r>
            <a:r>
              <a:rPr lang="en-US" b="1" dirty="0"/>
              <a:t>Trade Shows, Webinars, and Advertisements</a:t>
            </a:r>
            <a:r>
              <a:rPr lang="en-US" dirty="0"/>
              <a:t> also contribute to lead acquisition. Would you like insights on optimizing lead sources for better conversions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008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3CB237-135D-1C2B-39B0-B22F428B9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15" y="243068"/>
            <a:ext cx="10908742" cy="5548132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/>
              <a:t>A </a:t>
            </a:r>
            <a:r>
              <a:rPr lang="en-US" sz="7200" b="1" dirty="0"/>
              <a:t>Customer Relationship Management (CRM) system</a:t>
            </a:r>
            <a:r>
              <a:rPr lang="en-US" sz="7200" dirty="0"/>
              <a:t> is used in a company to manage interactions with customers, streamline processes, and improve profitability. Here are some key functions of CRM for a company:</a:t>
            </a:r>
          </a:p>
          <a:p>
            <a:r>
              <a:rPr lang="en-US" sz="7200" b="1" dirty="0"/>
              <a:t>1. Lead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/>
              <a:t>Tracks and captures leads from multiple sources (website, social media, email,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/>
              <a:t>Assigns leads to sales representatives for follow-ups.</a:t>
            </a:r>
          </a:p>
          <a:p>
            <a:r>
              <a:rPr lang="en-US" sz="7200" b="1" dirty="0"/>
              <a:t>2. Sales Pipeline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/>
              <a:t>Helps sales teams track opportunities from prospecting to closing deals.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/>
              <a:t>Provides insights into sales performance and forecasts.</a:t>
            </a:r>
          </a:p>
          <a:p>
            <a:r>
              <a:rPr lang="en-US" sz="7200" b="1" dirty="0"/>
              <a:t>3. Customer Service &amp;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/>
              <a:t>Manages customer inquiries, complaints, and support tickets.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/>
              <a:t>Automates responses and improves customer satisfaction.</a:t>
            </a:r>
          </a:p>
          <a:p>
            <a:r>
              <a:rPr lang="en-US" sz="7200" b="1" dirty="0"/>
              <a:t>4. Marketing 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/>
              <a:t>Runs targeted email campaigns, social media marketing, and lead nurturing.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/>
              <a:t>Tracks marketing ROI and customer engagement.</a:t>
            </a:r>
          </a:p>
          <a:p>
            <a:r>
              <a:rPr lang="en-US" sz="7200" b="1" dirty="0"/>
              <a:t>5. Reporting &amp;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/>
              <a:t>Generates reports on sales performance, customer behavior, and marketing effectiveness.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95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EE53-8202-F2EB-FB5D-C02507EFE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275303"/>
            <a:ext cx="10539969" cy="6361471"/>
          </a:xfr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sz="9600" b="0" cap="none" dirty="0">
                <a:solidFill>
                  <a:schemeClr val="tx1"/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694815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613</TotalTime>
  <Words>679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Rockwell</vt:lpstr>
      <vt:lpstr>Wingdings</vt:lpstr>
      <vt:lpstr>Damask</vt:lpstr>
      <vt:lpstr>CRM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 Yadav</dc:creator>
  <cp:lastModifiedBy>Pratiksha Jadhav</cp:lastModifiedBy>
  <cp:revision>4</cp:revision>
  <dcterms:created xsi:type="dcterms:W3CDTF">2025-01-28T04:33:38Z</dcterms:created>
  <dcterms:modified xsi:type="dcterms:W3CDTF">2025-01-31T17:49:18Z</dcterms:modified>
</cp:coreProperties>
</file>